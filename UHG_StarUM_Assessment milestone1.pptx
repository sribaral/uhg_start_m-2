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20"/>
    <p:sldId id="271" r:id="rId21"/>
    <p:sldId id="272" r:id="rId22"/>
    <p:sldId id="263" r:id="rId9"/>
    <p:sldId id="264" r:id="rId10"/>
    <p:sldId id="265" r:id="rId11"/>
    <p:sldId id="266" r:id="rId12"/>
    <p:sldId id="267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13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77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UHG StarUM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Platform Assessment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463040" cy="36576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Engagement  |  Findings &amp; Recommendations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Infrastructure &amp; Platform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Overview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881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051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61872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&amp; Modules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5389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6112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61872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Resilience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1965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6112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261872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1854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6112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261872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Labeling &amp; Governance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55117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6112" y="2514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1261872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Resilience Patterns</a:t>
            </a:r>
            <a:endParaRPr lang="en-US" sz="13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1088136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102352" y="1051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5468112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Drift Detection</a:t>
            </a:r>
            <a:endParaRPr lang="en-US" sz="13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1453896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02352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5468112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Platform Observations</a:t>
            </a:r>
            <a:endParaRPr lang="en-US" sz="13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1819656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102352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9" name="Text 19"/>
          <p:cNvSpPr/>
          <p:nvPr/>
        </p:nvSpPr>
        <p:spPr>
          <a:xfrm>
            <a:off x="5468112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3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2185416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102352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5468112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Configuration Management</a:t>
            </a:r>
            <a:endParaRPr lang="en-US" sz="13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2551176"/>
            <a:ext cx="256032" cy="25603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102352" y="2514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5468112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Utilization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548640" y="3154680"/>
            <a:ext cx="80467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25"/>
          <p:cNvSpPr/>
          <p:nvPr/>
        </p:nvSpPr>
        <p:spPr>
          <a:xfrm>
            <a:off x="548640" y="3154680"/>
            <a:ext cx="73152" cy="132588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6"/>
          <p:cNvSpPr/>
          <p:nvPr/>
        </p:nvSpPr>
        <p:spPr>
          <a:xfrm>
            <a:off x="8229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Maturity Snapshot</a:t>
            </a:r>
            <a:endParaRPr lang="en-US" sz="1400" dirty="0"/>
          </a:p>
        </p:txBody>
      </p:sp>
      <p:sp>
        <p:nvSpPr>
          <p:cNvPr id="39" name="Shape 27"/>
          <p:cNvSpPr/>
          <p:nvPr/>
        </p:nvSpPr>
        <p:spPr>
          <a:xfrm>
            <a:off x="822960" y="3675888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28"/>
          <p:cNvSpPr/>
          <p:nvPr/>
        </p:nvSpPr>
        <p:spPr>
          <a:xfrm>
            <a:off x="1078992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 (5)</a:t>
            </a:r>
            <a:endParaRPr lang="en-US" sz="1100" dirty="0"/>
          </a:p>
        </p:txBody>
      </p:sp>
      <p:sp>
        <p:nvSpPr>
          <p:cNvPr id="41" name="Shape 29"/>
          <p:cNvSpPr/>
          <p:nvPr/>
        </p:nvSpPr>
        <p:spPr>
          <a:xfrm>
            <a:off x="3291840" y="3675888"/>
            <a:ext cx="182880" cy="182880"/>
          </a:xfrm>
          <a:prstGeom prst="ellipse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0"/>
          <p:cNvSpPr/>
          <p:nvPr/>
        </p:nvSpPr>
        <p:spPr>
          <a:xfrm>
            <a:off x="3547872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(6)</a:t>
            </a:r>
            <a:endParaRPr lang="en-US" sz="1100" dirty="0"/>
          </a:p>
        </p:txBody>
      </p:sp>
      <p:sp>
        <p:nvSpPr>
          <p:cNvPr id="43" name="Shape 31"/>
          <p:cNvSpPr/>
          <p:nvPr/>
        </p:nvSpPr>
        <p:spPr>
          <a:xfrm>
            <a:off x="5760720" y="3675888"/>
            <a:ext cx="182880" cy="18288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2"/>
          <p:cNvSpPr/>
          <p:nvPr/>
        </p:nvSpPr>
        <p:spPr>
          <a:xfrm>
            <a:off x="6016752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(2)</a:t>
            </a:r>
            <a:endParaRPr 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822960" y="4023360"/>
            <a:ext cx="640080" cy="731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4"/>
          <p:cNvSpPr/>
          <p:nvPr/>
        </p:nvSpPr>
        <p:spPr>
          <a:xfrm>
            <a:off x="777240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800" dirty="0"/>
          </a:p>
        </p:txBody>
      </p:sp>
      <p:sp>
        <p:nvSpPr>
          <p:cNvPr id="47" name="Shape 35"/>
          <p:cNvSpPr/>
          <p:nvPr/>
        </p:nvSpPr>
        <p:spPr>
          <a:xfrm>
            <a:off x="1600200" y="4023360"/>
            <a:ext cx="640080" cy="73152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36"/>
          <p:cNvSpPr/>
          <p:nvPr/>
        </p:nvSpPr>
        <p:spPr>
          <a:xfrm>
            <a:off x="1554480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800" dirty="0"/>
          </a:p>
        </p:txBody>
      </p:sp>
      <p:sp>
        <p:nvSpPr>
          <p:cNvPr id="49" name="Shape 37"/>
          <p:cNvSpPr/>
          <p:nvPr/>
        </p:nvSpPr>
        <p:spPr>
          <a:xfrm>
            <a:off x="2377440" y="4023360"/>
            <a:ext cx="640080" cy="73152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38"/>
          <p:cNvSpPr/>
          <p:nvPr/>
        </p:nvSpPr>
        <p:spPr>
          <a:xfrm>
            <a:off x="2331720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51" name="Shape 39"/>
          <p:cNvSpPr/>
          <p:nvPr/>
        </p:nvSpPr>
        <p:spPr>
          <a:xfrm>
            <a:off x="3154680" y="4023360"/>
            <a:ext cx="640080" cy="73152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0"/>
          <p:cNvSpPr/>
          <p:nvPr/>
        </p:nvSpPr>
        <p:spPr>
          <a:xfrm>
            <a:off x="3108960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800" dirty="0"/>
          </a:p>
        </p:txBody>
      </p:sp>
      <p:sp>
        <p:nvSpPr>
          <p:cNvPr id="53" name="Shape 41"/>
          <p:cNvSpPr/>
          <p:nvPr/>
        </p:nvSpPr>
        <p:spPr>
          <a:xfrm>
            <a:off x="3931920" y="4023360"/>
            <a:ext cx="640080" cy="731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2"/>
          <p:cNvSpPr/>
          <p:nvPr/>
        </p:nvSpPr>
        <p:spPr>
          <a:xfrm>
            <a:off x="3886200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800" dirty="0"/>
          </a:p>
        </p:txBody>
      </p:sp>
      <p:sp>
        <p:nvSpPr>
          <p:cNvPr id="55" name="Shape 43"/>
          <p:cNvSpPr/>
          <p:nvPr/>
        </p:nvSpPr>
        <p:spPr>
          <a:xfrm>
            <a:off x="4709160" y="4023360"/>
            <a:ext cx="640080" cy="731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4"/>
          <p:cNvSpPr/>
          <p:nvPr/>
        </p:nvSpPr>
        <p:spPr>
          <a:xfrm>
            <a:off x="4663440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800" dirty="0"/>
          </a:p>
        </p:txBody>
      </p:sp>
      <p:sp>
        <p:nvSpPr>
          <p:cNvPr id="57" name="Shape 45"/>
          <p:cNvSpPr/>
          <p:nvPr/>
        </p:nvSpPr>
        <p:spPr>
          <a:xfrm>
            <a:off x="5486400" y="4023360"/>
            <a:ext cx="640080" cy="73152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46"/>
          <p:cNvSpPr/>
          <p:nvPr/>
        </p:nvSpPr>
        <p:spPr>
          <a:xfrm>
            <a:off x="5440680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</a:t>
            </a:r>
            <a:endParaRPr lang="en-US" sz="800" dirty="0"/>
          </a:p>
        </p:txBody>
      </p:sp>
      <p:sp>
        <p:nvSpPr>
          <p:cNvPr id="59" name="Shape 47"/>
          <p:cNvSpPr/>
          <p:nvPr/>
        </p:nvSpPr>
        <p:spPr>
          <a:xfrm>
            <a:off x="6263640" y="4023360"/>
            <a:ext cx="640080" cy="731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48"/>
          <p:cNvSpPr/>
          <p:nvPr/>
        </p:nvSpPr>
        <p:spPr>
          <a:xfrm>
            <a:off x="6217920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61" name="Shape 49"/>
          <p:cNvSpPr/>
          <p:nvPr/>
        </p:nvSpPr>
        <p:spPr>
          <a:xfrm>
            <a:off x="7040880" y="4023360"/>
            <a:ext cx="640080" cy="73152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0"/>
          <p:cNvSpPr/>
          <p:nvPr/>
        </p:nvSpPr>
        <p:spPr>
          <a:xfrm>
            <a:off x="6995160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800" dirty="0"/>
          </a:p>
        </p:txBody>
      </p:sp>
      <p:sp>
        <p:nvSpPr>
          <p:cNvPr id="63" name="Shape 51"/>
          <p:cNvSpPr/>
          <p:nvPr/>
        </p:nvSpPr>
        <p:spPr>
          <a:xfrm>
            <a:off x="7818120" y="4023360"/>
            <a:ext cx="640080" cy="73152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2"/>
          <p:cNvSpPr/>
          <p:nvPr/>
        </p:nvSpPr>
        <p:spPr>
          <a:xfrm>
            <a:off x="7772400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Infrastructure &amp; Platform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Terraform State &amp; Module Strategy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070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module library or versioning strategy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approach not documented or standardized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contracting teams used inconsistent Terraform patterns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 pipeline checks enforce module usage consistency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2834640"/>
            <a:ext cx="4023360" cy="54864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900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copied from sre-gcp-tf default branch per environment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branches for nonprod and prod (sre-gcp-tf repo)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stored in GCP bucket within each project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environment drift incidents reported to date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070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9204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drift between dev/test/prod due to branch copies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module usage across teams and environments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state divergence without drift detection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contractor code may introduce technical debt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9008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9204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versioned, shared Terraform module registry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remote backend with state locking per environment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CI checks to validate module consistency on pull requests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consolidate legacy contractor Terraform code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Infrastructure &amp; Platform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Pipeline Resilience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070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production safeguards in GitHub Actions pipelines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automated policy checks or validation gates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safety controls left to individual app teams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ticket validation exists but enforcement is inconsistent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2834640"/>
            <a:ext cx="4023360" cy="54864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900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defines its own deployment plan and rollback strategy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process is manual; speed varies by team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environment-based approvals configured for prod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blue/green or canary deployments — desired as future state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070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9204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changes may reach production without containment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rollback speed increases mean-time-to-recovery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traffic splitting capability for safe progressive rollouts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deployment failures have impacted business and users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9008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9204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standardized policy gates across all pipelines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rollback triggers based on health check failures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Google Load Balancer-based traffic shifting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mandatory validation gates before prod promotion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Infrastructure &amp; Platform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Strategy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070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deployments use rolling updates only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and Canary acknowledged as future goals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rollback criteria — rollback is manual and ad-hoc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targets both active and passive clusters (team-driven)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2834640"/>
            <a:ext cx="4023360" cy="54864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900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determine which clusters to deploy to and when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strategies are team-specific, not standardized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teams own SOPs for acceptable downtime windows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shadow testing or limited-traffic validation before full release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070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9204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impacted simultaneously during a faulty release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rollback introduces human error and delay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progressive delivery reduces blast radius containment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Deployment-induced outages may go uncontained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9008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9204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blue/green deployments using GCP Load Balancers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automated rollback criteria tied to monitoring alerts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deployment runbooks across all application teams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canary releases with incremental traffic shifting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Infrastructure &amp; Platform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Labeling &amp; Governance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070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no consistent tagging/labeling taxonomy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could not be reliably attributed to environments or teams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GCP Organization Policy constraints enforced labeling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2834640"/>
            <a:ext cx="4023360" cy="54864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900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recently implemented across resources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CloudGuru tool used for enterprise labeling compliance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attributed via AIDE/ASK ID to owning teams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 done by AIDE/ASK ID (not per-service)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070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9204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missed resources may still lack proper labels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enforcement means labeling may regress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slowed without clear resource ownership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9008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9204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labels via GCP Organization Policy constraints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CI validation to reject unlabeled resource deployments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taxonomy to include service-level granularity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existing resources quarterly for labeling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Infrastructure &amp; Platform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Resilience Patterns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070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circuit breaker, retry, rate limiter, or bulkhead patterns observed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rely on monitoring rather than defensive coding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timeout budgets defined for external API calls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practices limited to infrastructure — no SLOs or error budgets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2834640"/>
            <a:ext cx="4023360" cy="54864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900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using Hystrix for circuit breaking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Resilience4J and RestClient underway (Spring Boot 4)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 and Dynatrace integration planned to improve resilience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 defined for various services; ownership varies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070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9204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failures when upstream dependencies degrade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Hystrix is in maintenance mode — no longer actively developed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migration leaves services with mixed resilience patterns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budgets means no objective deployment safety threshold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9008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9204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Resilience4J migration across all StarUM services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enforce timeout budgets for all external dependencies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SLOs with error budgets owned by service teams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KEDA autoscaling tied to Dynatrace metrics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Infrastructure &amp; Platform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Drift Detection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070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mechanism to detect GCP vs Terraform state divergence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infrastructure changes have occurred in production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scheduled terraform plan runs to detect drift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2834640"/>
            <a:ext cx="4023360" cy="54864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900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scanning recently introduced to identify discrepancies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reduction underway to prevent unauthorized manual changes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always run terraform plan before apply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contractor teams did not consistently follow plan-before-apply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070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9204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drift causes unexpected failures during deploys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console changes bypass change management controls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notification mechanism for unauthorized infrastructure changes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9008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9204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automated terraform plan runs (daily or on-commit)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drift alerts that notify SRE on state divergence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IAM policies to prevent direct console modifications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known drift and document all manual changes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Infrastructure &amp; Platform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GKE Platform Observations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070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regional GKE clusters (active/passive) — no formal DR model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configured but VPA not enabled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type and config need validation (L4 vs L7)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failover requires manual intervention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2834640"/>
            <a:ext cx="4023360" cy="54864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900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cluster serves as passive failover / DR target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failover required if primary cluster goes down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load balancer targeted (needs confirmation)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goal: increase failover automation with DB tech updates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070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9204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failover introduces significant RTO during cluster failure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documented runbook for cluster failover procedures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cluster may have configuration drift from active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VPA, pods may be over- or under-provisioned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9008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9204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and document cluster failover runbook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automated health-based traffic rerouting via GCLB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VPA in recommendation mode to right-size workloads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periodic DR drills and document results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Infrastructure &amp; Platform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Layer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070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writable primary instance with manual replica promotion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SQL failover drills conducted to validate HA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on-prem to GCP migration failed and was rolled back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upstream systems write directly to the database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2834640"/>
            <a:ext cx="4023360" cy="54864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900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write operations depend on one primary database instance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procedures exist but not validated through drills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database migration attempt failed and was rolled back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configured but restore testing not performed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070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9204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failover increases downtime during database outages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failover could impact recovery and data access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backups may fail during critical recovery scenarios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write paths increase risk of data inconsistency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9008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9204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automated database failover to reduce recovery time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regular Cloud SQL failover drills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document a clear database migration approach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backups and enforce controlled write mechanisms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Infrastructure &amp; Platform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Secrets &amp; Configuration Management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070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stored as Kubernetes secrets (base64) — not Secret Manager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rotation policy for secrets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sync across two clusters was historically manual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2834640"/>
            <a:ext cx="4023360" cy="54864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900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Immerse tool pushes vaulted values to namespaces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recently introduced for cross-cluster secret sync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passwords and API keys rotated at least annually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builds allow secret update via namespace restart (~minutes)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070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9204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Base64-encoded K8s secrets are not encrypted at rest by default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rotation may not meet security compliance timelines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Cross-cluster sync gaps could cause service disruption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secret in shared DB affects multiple teams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9008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9204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GCP Secret Manager for centralized lifecycle management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secret rotation frequency per enterprise security policy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cross-cluster secret synchronization fully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test emergency secret rotation runbook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Infrastructure &amp; Platform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&amp; Utilization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070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 of safer deployments (Blue-Green) not assessed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 baselines not captured for right-sizing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per-service cost attribution — only AIDE/ASK ID level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2834640"/>
            <a:ext cx="4023360" cy="54864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900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spend tracked by AIDE/ASK ID (not granular per-service)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Recommender API output not yet reviewed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 implementation planned to reduce non-prod costs by 25%+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shut off non-prod environments when not in use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070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9204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Over-provisioned resources increase cost without visibility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baseline makes it impossible to measure optimization impact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Blue-green/canary deployments may increase infra costs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9008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9204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CPU/memory utilization baselines across all services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act on GCP Recommender API sizing suggestions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KEDA with non-prod environment scheduling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cost impact of blue/green before implementation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1463040" cy="36576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Align on priorities, assign owners, and begin the Immediate phase.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SRE Engagement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Infrastructure &amp; Platform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Framework &amp; Dependency Management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070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Jersey 1.x incompatible with Spring Boot 3 (javax.* namespace)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3.5.9 has known critical and high severity CVEs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dependency on embi-common-boot library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System-scope / local JAR dependencies present in builds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2834640"/>
            <a:ext cx="4023360" cy="54864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900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Jersey 1.x actively used with legacy javax.* namespace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running Spring Boot 3.5.9 in production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embi-common-boot library recently updated by maintainers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JAR dependencies present but not yet audited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070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9204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Jersey 1.x blocks migration to Spring Boot 3.x and beyond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CVEs in Spring Boot 3.5.9 pose security risk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dependencies cause unpredictable build failures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JARs bypass artifact governance and versioning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9008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9204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from Jersey 1.x to Spring-native REST controllers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Spring Boot 3.5.13 per Optum N1/N2 policy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stable tagged release of embi-common-boot library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all local JARs to GCP Artifact Registry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Infrastructure &amp; Platform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Build &amp; Runtime Optimization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070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failure handling and build-break behavior undefined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count configuration not tuned for GCP build agents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JSON libraries in use (Jackson, Gson, Json-smart)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version manually overridden outside Spring Boot BOM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2834640"/>
            <a:ext cx="4023360" cy="54864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900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Build-break on test failure thresholds not defined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count not optimized for test suite characteristics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JSON serialization libraries coexist in codebase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in use; Java 25 preferred per Optum standards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070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9204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tests may pass silently into production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Suboptimal build performance and resource usage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conflicts from multiple JSON providers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Tomcat override may introduce version drift and CVEs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9008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9204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test coverage and failure thresholds with delivery teams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fork count based on test suite and agent resources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on Jackson as single JSON provider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Spring Boot BOM for Tomcat; plan Java 25 after SB4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UHG StarUM  |  Infrastructure &amp; Platform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Application Security &amp; Configuration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070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Jasypt ENC() encrypted values stored in source repository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endpoints potentially accessible externally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environment-specific URLs in application config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paths not validated for cloud portability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2834640"/>
            <a:ext cx="4023360" cy="54864"/>
          </a:xfrm>
          <a:prstGeom prst="rect">
            <a:avLst/>
          </a:prstGeom>
          <a:solidFill>
            <a:srgbClr val="E2A0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900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secret supplies Jasypt decryption key at runtime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whitelist reportedly blocks external actuator access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URLs hardcoded but functional across envs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Profiles used successfully for multi-env deployments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070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9204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passwords in source control violate security policy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actuator endpoints pose unauthorized access risk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URLs reduce environment portability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Unvalidated certificate paths may break cloud deployments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9008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9204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Jasypt ENC() values out of source repository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and enforce actuator endpoint access restrictions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 all environment URLs via Spring configuration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certificate paths for GCP portability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1544</Words>
  <Application>Microsoft Office PowerPoint</Application>
  <PresentationFormat>On-screen Show (16:9)</PresentationFormat>
  <Paragraphs>280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UHG StarUM – Infrastructure &amp; Platform Assessment</dc:title>
  <dc:subject>PptxGenJS Presentation</dc:subject>
  <dc:creator>UHG SRE</dc:creator>
  <cp:lastModifiedBy>Baral, Srikanta</cp:lastModifiedBy>
  <cp:revision>2</cp:revision>
  <dcterms:created xsi:type="dcterms:W3CDTF">2026-04-02T18:21:37Z</dcterms:created>
  <dcterms:modified xsi:type="dcterms:W3CDTF">2026-04-02T18:42:57Z</dcterms:modified>
</cp:coreProperties>
</file>